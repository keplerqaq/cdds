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011680"/>
            <a:ext cx="8534095" cy="381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91440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数据结构课程设计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534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64B5F6"/>
                </a:solidFill>
                <a:latin typeface="微软雅黑"/>
              </a:defRPr>
            </a:pPr>
            <a:r>
              <a:t>小猫钓鱼游戏 + 制造业增加值统计分析系统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34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2200" b="0">
                <a:solidFill>
                  <a:srgbClr val="AAAAAA"/>
                </a:solidFill>
                <a:latin typeface="微软雅黑"/>
              </a:defRPr>
            </a:pPr>
            <a:r>
              <a:t>计科 241/242 班 · 第 3 组</a:t>
            </a:r>
          </a:p>
          <a:p>
            <a:pPr algn="ctr">
              <a:spcAft>
                <a:spcPts val="780"/>
              </a:spcAft>
              <a:defRPr sz="2000" b="0">
                <a:solidFill>
                  <a:srgbClr val="AAAAAA"/>
                </a:solidFill>
                <a:latin typeface="微软雅黑"/>
              </a:defRPr>
            </a:pPr>
            <a:r>
              <a:t>指导教师：周文峰</a:t>
            </a:r>
          </a:p>
          <a:p>
            <a:pPr algn="ctr">
              <a:spcAft>
                <a:spcPts val="780"/>
              </a:spcAft>
              <a:defRPr sz="1800" b="0">
                <a:solidFill>
                  <a:srgbClr val="AAAAAA"/>
                </a:solidFill>
                <a:latin typeface="微软雅黑"/>
              </a:defRPr>
            </a:pPr>
            <a:r>
              <a:t>2026 年 5 月 19 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4B5F6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5087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选题的意义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920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两个题目各自对应什么数据结构，综合训练价值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4B5F6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5146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问题分析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9260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游戏规则、数据规模、七项功能需求、核心难点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4B5F6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3520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存储结构与算法接口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931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链式队列/栈、顺序表+索引数组、两种排序对比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4B5F6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526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可行性分析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技术准备、时间安排、风险应对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86400"/>
            <a:ext cx="731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64B5F6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32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人员分工与预期结果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5943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分工表、交付物、进度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一、选题的意义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45720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D54F"/>
                </a:solidFill>
                <a:latin typeface="微软雅黑"/>
              </a:defRPr>
            </a:pPr>
            <a:r>
              <a:t>🐱 小猫钓鱼游戏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核心数据结构：链式队列 + 链式栈</a:t>
            </a:r>
          </a:p>
          <a:p>
            <a:pPr algn="l">
              <a:spcAft>
                <a:spcPts val="780"/>
              </a:spcAft>
              <a:defRPr sz="8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队列（FIFO）：手牌出队头、收牌入队尾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栈（LIFO）：桌面压栈放牌、出栈收牌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标记数组：O(1) 查重，桌面每种牌面至多一张</a:t>
            </a:r>
          </a:p>
          <a:p>
            <a:pPr algn="l">
              <a:spcAft>
                <a:spcPts val="780"/>
              </a:spcAft>
              <a:defRPr sz="8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价值：将课堂上的队列和栈从"知道概念"推进到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"独立设计和串联运行"，理解 ADT 的设计思想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81C784"/>
                </a:solidFill>
                <a:latin typeface="微软雅黑"/>
              </a:defRPr>
            </a:pPr>
            <a:r>
              <a:t>🏭 制造业统计分析系统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19456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核心结构：顺序表 + 索引数组</a:t>
            </a:r>
          </a:p>
          <a:p>
            <a:pPr algn="l">
              <a:spcAft>
                <a:spcPts val="780"/>
              </a:spcAft>
              <a:defRPr sz="8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96 国 × 21 年真实面板数据（1999-2019）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七项功能：导入→查询→增速→两种排名→分析→保存</a:t>
            </a:r>
          </a:p>
          <a:p>
            <a:pPr algn="l">
              <a:spcAft>
                <a:spcPts val="780"/>
              </a:spcAft>
              <a:defRPr sz="8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价值：排序算法综合应用 + 索引数组的间接寻址思维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用真实数据感受中国制造业在全球格局中的变迁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二、问题分析 · 小猫钓鱼游戏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4B5F6"/>
                </a:solidFill>
                <a:latin typeface="微软雅黑"/>
              </a:defRPr>
            </a:pPr>
            <a:r>
              <a:t>游戏流程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700" b="0">
                <a:solidFill>
                  <a:srgbClr val="AAAAAA"/>
                </a:solidFill>
                <a:latin typeface="微软雅黑"/>
              </a:defRPr>
            </a:pPr>
            <a:r>
              <a:t>① 洗牌 — N 张牌（1-9）随机打乱，平分给甲乙</a:t>
            </a:r>
          </a:p>
          <a:p>
            <a:pPr algn="l">
              <a:spcAft>
                <a:spcPts val="780"/>
              </a:spcAft>
              <a:defRPr sz="1700" b="0">
                <a:solidFill>
                  <a:srgbClr val="AAAAAA"/>
                </a:solidFill>
                <a:latin typeface="微软雅黑"/>
              </a:defRPr>
            </a:pPr>
            <a:r>
              <a:t>② 甲先出一张牌 → 放到桌面（入栈）</a:t>
            </a:r>
          </a:p>
          <a:p>
            <a:pPr algn="l">
              <a:spcAft>
                <a:spcPts val="780"/>
              </a:spcAft>
              <a:defRPr sz="1700" b="0">
                <a:solidFill>
                  <a:srgbClr val="AAAAAA"/>
                </a:solidFill>
                <a:latin typeface="微软雅黑"/>
              </a:defRPr>
            </a:pPr>
            <a:r>
              <a:t>③ 交替进行，每轮出牌后判断：</a:t>
            </a:r>
          </a:p>
          <a:p>
            <a:pPr algn="l">
              <a:spcAft>
                <a:spcPts val="780"/>
              </a:spcAft>
              <a:defRPr sz="6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700" b="1">
                <a:solidFill>
                  <a:srgbClr val="81C784"/>
                </a:solidFill>
                <a:latin typeface="微软雅黑"/>
              </a:defRPr>
            </a:pPr>
            <a:r>
              <a:t>  ✅ 桌面上没有这张牌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     → 压栈，table_flag[card] = 1</a:t>
            </a:r>
          </a:p>
          <a:p>
            <a:pPr algn="l">
              <a:spcAft>
                <a:spcPts val="780"/>
              </a:spcAft>
              <a:defRPr sz="6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700" b="1">
                <a:solidFill>
                  <a:srgbClr val="E86A6A"/>
                </a:solidFill>
                <a:latin typeface="微软雅黑"/>
              </a:defRPr>
            </a:pPr>
            <a:r>
              <a:t>  ⚠️ 桌面上已有这张牌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     → 自己出的牌先入队尾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     → 从栈顶连续出栈并入队尾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     → 遇到匹配的旧牌后停止</a:t>
            </a:r>
          </a:p>
          <a:p>
            <a:pPr algn="l">
              <a:spcAft>
                <a:spcPts val="780"/>
              </a:spcAft>
              <a:defRPr sz="600" b="0">
                <a:solidFill>
                  <a:srgbClr val="FFFFFF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700" b="0">
                <a:solidFill>
                  <a:srgbClr val="AAAAAA"/>
                </a:solidFill>
                <a:latin typeface="微软雅黑"/>
              </a:defRPr>
            </a:pPr>
            <a:r>
              <a:t>④ 一方手牌为空 → 游戏结束，宣布胜者</a:t>
            </a:r>
          </a:p>
          <a:p>
            <a:pPr algn="l">
              <a:spcAft>
                <a:spcPts val="780"/>
              </a:spcAft>
              <a:defRPr sz="1700" b="0">
                <a:solidFill>
                  <a:srgbClr val="AAAAAA"/>
                </a:solidFill>
                <a:latin typeface="微软雅黑"/>
              </a:defRPr>
            </a:pPr>
            <a:r>
              <a:t>⑤ 回合上限保护，防止无限对局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4B5F6"/>
                </a:solidFill>
                <a:latin typeface="微软雅黑"/>
              </a:defRPr>
            </a:pPr>
            <a:r>
              <a:t>数据结构映射关系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20240"/>
            <a:ext cx="5029200" cy="96012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微软雅黑"/>
              </a:defRPr>
            </a:pPr>
            <a:r>
              <a:t>手牌操作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965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出牌从前出、收牌加后面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54F"/>
                </a:solidFill>
                <a:latin typeface="微软雅黑"/>
              </a:defRPr>
            </a:pPr>
            <a:r>
              <a:t>→ 队列 (Queue)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FIFO — 出队头 / 入队尾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017520"/>
            <a:ext cx="5029200" cy="96012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063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微软雅黑"/>
              </a:defRPr>
            </a:pPr>
            <a:r>
              <a:t>桌面牌叠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0632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放牌叠上去、收牌从顶上拿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290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54F"/>
                </a:solidFill>
                <a:latin typeface="微软雅黑"/>
              </a:defRPr>
            </a:pPr>
            <a:r>
              <a:t>→ 栈 (Stack)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429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LIFO — 压栈 / 出栈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114800"/>
            <a:ext cx="5029200" cy="96012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160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微软雅黑"/>
              </a:defRPr>
            </a:pPr>
            <a:r>
              <a:t>判重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查这张牌桌面上有没有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54F"/>
                </a:solidFill>
                <a:latin typeface="微软雅黑"/>
              </a:defRPr>
            </a:pPr>
            <a:r>
              <a:t>→ 标记数组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5262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table_flag[10]，O(1)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5212080"/>
            <a:ext cx="5029200" cy="96012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4B5F6"/>
                </a:solidFill>
                <a:latin typeface="微软雅黑"/>
              </a:defRPr>
            </a:pPr>
            <a:r>
              <a:t>玩家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5257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二人交替出牌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54F"/>
                </a:solidFill>
                <a:latin typeface="微软雅黑"/>
              </a:defRPr>
            </a:pPr>
            <a:r>
              <a:t>→ 两个队列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623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queue_a / queue_b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二、问题分析 · 制造业增加值统计分析系统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微软雅黑"/>
              </a:defRPr>
            </a:pPr>
            <a:r>
              <a:t>数据规模：96 个国家 × 21 年（1999–2019）× 4 个收入等级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64B5F6"/>
                </a:solidFill>
                <a:latin typeface="微软雅黑"/>
              </a:defRPr>
            </a:pPr>
            <a:r>
              <a:t>七项功能需求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① 数据导入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94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从 txt 批量读取 96 国数据到顺序表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194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fscanf + strcmp 收入等级映射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163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② 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81635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输入国家名 + 年份 → 增加值 + 增速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816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遍历顺序表、全字匹配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381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③ 增速计算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growth_rate = (当年−上年)/上年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381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上年为 0 则增速 =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599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④ 增加值排名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05993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逐年全量 96 国按增加值降序排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0599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快速排序 O(n log 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8172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⑤ 增速排名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6817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先按收入等级分四组 → 组内降序排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681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选择排序 O(n²)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⑥ 增加值分析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3035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对指定国家：min / max / 均值 / 方差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样本方差 S²=Σ(Xi−X̄)²/(n−1)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253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微软雅黑"/>
              </a:defRPr>
            </a:pPr>
            <a:r>
              <a:t>⑦ 保存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925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排好名的结果写到两个 txt 文件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9253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文件名由原始文件名派生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二、核心难点 · 索引数组原理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6A6A"/>
                </a:solidFill>
                <a:latin typeface="微软雅黑"/>
              </a:defRPr>
            </a:pPr>
            <a:r>
              <a:t>教材约束：排序不能改变原始记录的物理顺序，也不能新建一个排好序的记录序列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3291840" cy="32004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54F"/>
                </a:solidFill>
                <a:latin typeface="微软雅黑"/>
              </a:defRPr>
            </a:pPr>
            <a:r>
              <a:t>初始状态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r[]   = [ 中国, 美国, 印度, ..., 阿富汗 ]     ← 永远不动！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idx[] = [   1,    2,    3,  ...,    96    ]     ← 索引数组，初始 1..N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828800"/>
            <a:ext cx="3291840" cy="32004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54F"/>
                </a:solidFill>
                <a:latin typeface="微软雅黑"/>
              </a:defRPr>
            </a:pPr>
            <a:r>
              <a:t>比较时（间接访问）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77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比较 r[idx[0]].value_added 和 r[idx[1]].value_added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即：  r[1] 的增加值  vs  r[2] 的增加值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比较的是原始数据，但只交换 idx 里的值！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291840" cy="32004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920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54F"/>
                </a:solidFill>
                <a:latin typeface="微软雅黑"/>
              </a:defRPr>
            </a:pPr>
            <a:r>
              <a:t>排序后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idx[] = [ 8, 15, 3, ..., 72 ]     ← 已排好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r[idx[0]] = r[8] → 第 1 名     ← 通过索引间接访问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r[idx[1]] = r[15] → 第 2 名</a:t>
            </a:r>
          </a:p>
          <a:p>
            <a:pPr algn="l">
              <a:spcAft>
                <a:spcPts val="780"/>
              </a:spcAft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原始记录 r[] 的物理顺序完全没有改变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4B5F6"/>
                </a:solidFill>
                <a:latin typeface="微软雅黑"/>
              </a:defRPr>
            </a:pPr>
            <a:r>
              <a:t>核心思想：排的是索引，不是记录本身。不改变原始顺序，通过索引间接表达排名——这是教材第6章"内排序"的核心技巧。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三、存储结构及接口设计 · 小猫钓鱼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54F"/>
                </a:solidFill>
                <a:latin typeface="微软雅黑"/>
              </a:defRPr>
            </a:pPr>
            <a:r>
              <a:t>链式队列（手牌）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1C784"/>
                </a:solidFill>
                <a:latin typeface="Courier New"/>
              </a:defRPr>
            </a:pPr>
            <a:r>
              <a:t>typedef struct QNode {</a:t>
            </a:r>
            <a:br/>
            <a:r>
              <a:t>    int card;</a:t>
            </a:r>
            <a:br/>
            <a:r>
              <a:t>    struct QNode *next;</a:t>
            </a:r>
            <a:br/>
            <a:r>
              <a:t>} QNode;</a:t>
            </a:r>
            <a:br/>
            <a:br/>
            <a:r>
              <a:t>typedef struct {</a:t>
            </a:r>
            <a:br/>
            <a:r>
              <a:t>    QNode *front;   // 队头→出牌</a:t>
            </a:r>
            <a:br/>
            <a:r>
              <a:t>    QNode *rear;    // 队尾→收牌入队</a:t>
            </a:r>
            <a:br/>
            <a:r>
              <a:t>} LinkQueue;</a:t>
            </a:r>
            <a:br/>
            <a:br/>
            <a:r>
              <a:t>void queue_init(LinkQueue *q);</a:t>
            </a:r>
            <a:br/>
            <a:r>
              <a:t>void enqueue(LinkQueue *q, int card);</a:t>
            </a:r>
            <a:br/>
            <a:r>
              <a:t>int  dequeue(LinkQueue *q);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54F"/>
                </a:solidFill>
                <a:latin typeface="微软雅黑"/>
              </a:defRPr>
            </a:pPr>
            <a:r>
              <a:t>链式栈（桌面牌堆）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81C784"/>
                </a:solidFill>
                <a:latin typeface="Courier New"/>
              </a:defRPr>
            </a:pPr>
            <a:r>
              <a:t>typedef struct SNode {</a:t>
            </a:r>
            <a:br/>
            <a:r>
              <a:t>    int card;</a:t>
            </a:r>
            <a:br/>
            <a:r>
              <a:t>    struct SNode *next;</a:t>
            </a:r>
            <a:br/>
            <a:r>
              <a:t>} SNode;</a:t>
            </a:r>
            <a:br/>
            <a:br/>
            <a:r>
              <a:t>typedef struct {</a:t>
            </a:r>
            <a:br/>
            <a:r>
              <a:t>    SNode *top;     // 栈顶→放牌/收牌</a:t>
            </a:r>
            <a:br/>
            <a:r>
              <a:t>} LinkStack;</a:t>
            </a:r>
            <a:br/>
            <a:br/>
            <a:r>
              <a:t>void stack_init(LinkStack *s);</a:t>
            </a:r>
            <a:br/>
            <a:r>
              <a:t>void push(LinkStack *s, int card);</a:t>
            </a:r>
            <a:br/>
            <a:r>
              <a:t>int  pop(LinkStack *s);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18872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4B5F6"/>
                </a:solidFill>
                <a:latin typeface="微软雅黑"/>
              </a:defRPr>
            </a:pPr>
            <a:r>
              <a:t>选型理由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数组队列 → 假溢出问题（出队后 front 前空间浪费）；链式队列 → 动态分配，无容量上限，不受游戏时长影响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数组栈   → 需预设最大容量（游戏理论最长对局不确定）；链式栈   → 按需分配，桌面牌数动态增长收缩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三、存储结构及接口设计 · 制造业统计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54F"/>
                </a:solidFill>
                <a:latin typeface="微软雅黑"/>
              </a:defRPr>
            </a:pPr>
            <a:r>
              <a:t>顺序表 + 索引数组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81C784"/>
                </a:solidFill>
                <a:latin typeface="Courier New"/>
              </a:defRPr>
            </a:pPr>
            <a:r>
              <a:t>typedef struct {</a:t>
            </a:r>
            <a:br/>
            <a:r>
              <a:t>    char  country[30];          // 国家名</a:t>
            </a:r>
            <a:br/>
            <a:r>
              <a:t>    int   country_type;         // 0=低 1=中低 2=中高 3=高</a:t>
            </a:r>
            <a:br/>
            <a:r>
              <a:t>    float value_added[21];      // 增加值（亿美元）</a:t>
            </a:r>
            <a:br/>
            <a:r>
              <a:t>    float growth_rate[21];      // 同比增速</a:t>
            </a:r>
            <a:br/>
            <a:r>
              <a:t>    int   year[21];             // 年份 1999-2019</a:t>
            </a:r>
            <a:br/>
            <a:r>
              <a:t>    int   index_va[21];         // 增加值排名（逐年）</a:t>
            </a:r>
            <a:br/>
            <a:r>
              <a:t>    int   index_gr[21];         // 增速排名（逐年、组内）</a:t>
            </a:r>
            <a:br/>
            <a:r>
              <a:t>} RecType;</a:t>
            </a:r>
            <a:br/>
            <a:br/>
            <a:r>
              <a:t>typedef struct {</a:t>
            </a:r>
            <a:br/>
            <a:r>
              <a:t>    RecType r[MAXSIZE+1];       // r[0]不用</a:t>
            </a:r>
            <a:br/>
            <a:r>
              <a:t>    int index_l[], index_ml[],  // 四组收入等级索引</a:t>
            </a:r>
            <a:br/>
            <a:r>
              <a:t>        index_mh[], index_h[];</a:t>
            </a:r>
            <a:br/>
            <a:r>
              <a:t>    int length;</a:t>
            </a:r>
            <a:br/>
            <a:r>
              <a:t>} SqList;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54F"/>
                </a:solidFill>
                <a:latin typeface="微软雅黑"/>
              </a:defRPr>
            </a:pPr>
            <a:r>
              <a:t>核心算法接口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7373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① void MVA_SqList_Read(L, filename)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17627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② void MVA_SqList_Search(L)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61518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③ void MVA_SqList_Calculate(L)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05409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4B5F6"/>
                </a:solidFill>
                <a:latin typeface="微软雅黑"/>
              </a:defRPr>
            </a:pPr>
            <a:r>
              <a:t>④ void MVA_SqList_Sort_Va(L)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30540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54F"/>
                </a:solidFill>
                <a:latin typeface="微软雅黑"/>
              </a:defRPr>
            </a:pPr>
            <a:r>
              <a:t>快速排序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349300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微软雅黑"/>
              </a:defRPr>
            </a:pPr>
            <a:r>
              <a:t>    int partition(L, a, low, high, year)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9319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    void quick_sort_idx(L, a, low, high, year)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43708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4B5F6"/>
                </a:solidFill>
                <a:latin typeface="微软雅黑"/>
              </a:defRPr>
            </a:pPr>
            <a:r>
              <a:t>⑤ void MVA_SqList_Sort_Gr(L)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4370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D54F"/>
                </a:solidFill>
                <a:latin typeface="微软雅黑"/>
              </a:defRPr>
            </a:pPr>
            <a:r>
              <a:t>选择排序、分组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80974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    void group_sort_select(L, g, sz, res, yr)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524865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⑥ void MVA_SqList_Analyze(L)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568756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微软雅黑"/>
              </a:defRPr>
            </a:pPr>
            <a:r>
              <a:t>⑦ void MVA_SqList_Save(L, src_name)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三、核心算法 · 两种排序方式对比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286000" cy="502920"/>
          </a:xfrm>
          <a:prstGeom prst="round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8988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3108960" y="1371600"/>
            <a:ext cx="4389120" cy="502920"/>
          </a:xfrm>
          <a:prstGeom prst="round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38988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增加值排名 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371600"/>
            <a:ext cx="4389120" cy="502920"/>
          </a:xfrm>
          <a:prstGeom prst="round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38988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t>增速排名 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228600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84248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排序算法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1965960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984248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快速排序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80" y="1984248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选择排序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496312"/>
            <a:ext cx="228600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514600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时间复杂度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2496312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2514600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O(n log n) 平均 / O(n²) 最坏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496312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80" y="2514600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O(n²)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026664"/>
            <a:ext cx="228600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4495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空间复杂度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026664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3044952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O(log n) 递归栈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3026664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3044952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O(1) 原地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3557016"/>
            <a:ext cx="228600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3575304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排序范围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08960" y="3557016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46120" y="357530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全局 96 国，逐年全量排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3557016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0" y="3575304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分四组，各组内逐年排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087368"/>
            <a:ext cx="228600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4105656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是否分组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8960" y="4087368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4105656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否（全量排名）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89520" y="4087368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6680" y="4105656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是（先按收入等级分四组）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617720"/>
            <a:ext cx="228600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4636008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稳定性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108960" y="4617720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46120" y="4636008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不稳定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89520" y="4617720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26680" y="4636008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不稳定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148072"/>
            <a:ext cx="228600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166360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选型理由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108960" y="5148072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46120" y="5166360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数据量适中，平均效率最优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89520" y="5148072"/>
            <a:ext cx="4389120" cy="475488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80" y="5166360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分组后每组仅 10-50 国，</a:t>
            </a:r>
            <a:br/>
            <a:r>
              <a:t>O(n²) 差别不大，实现简洁直观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5678424"/>
            <a:ext cx="228600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5696712"/>
            <a:ext cx="2103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结果存储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08960" y="5678424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46120" y="5696712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index_va[year]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589520" y="5678424"/>
            <a:ext cx="4389120" cy="475488"/>
          </a:xfrm>
          <a:prstGeom prst="round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26680" y="5696712"/>
            <a:ext cx="4206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index_gr[year]（组内排名）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4B5F6"/>
                </a:solidFill>
                <a:latin typeface="微软雅黑"/>
              </a:defRPr>
            </a:pPr>
            <a:r>
              <a:t>教材要求 ④ 和 ⑤ 必须使用不同排序算法——体现了对多种排序算法的掌握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四、可行性分析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474720" cy="47548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1C784"/>
                </a:solidFill>
                <a:latin typeface="微软雅黑"/>
              </a:defRPr>
            </a:pPr>
            <a:r>
              <a:t>技术可行性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已掌握全部所需数据结构：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链表/栈/队列/顺序表（郝斌课程）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排序：冒泡/插入/选择/快排/归并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C语言：struct/typedef/文件I/O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数据量可控：96国×21年=2016条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O(n²)也毫秒级，无性能瓶颈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参考代码可作验证基准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80160"/>
            <a:ext cx="3474720" cy="47548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54F"/>
                </a:solidFill>
                <a:latin typeface="微软雅黑"/>
              </a:defRPr>
            </a:pPr>
            <a:r>
              <a:t>时间可行性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202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5/14 确定思路 → 5/19 开题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5/21–6/8 程序设计实现（≈3周）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小猫钓鱼游戏 已完成编码调试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制造业系统 七项功能已完成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剩余：代码复核、测试、报告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时间充裕 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1280160"/>
            <a:ext cx="3474720" cy="47548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6A6A"/>
                </a:solidFill>
                <a:latin typeface="微软雅黑"/>
              </a:defRPr>
            </a:pPr>
            <a:r>
              <a:t>风险与应对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92024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索引数组易出错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→ 参考教材索引实现，逐步验证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两种排序可能误用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→ 独立函数封装，不同入口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文件路径问题（src/ vs 根目录）</a:t>
            </a:r>
          </a:p>
          <a:p>
            <a:pPr algn="l">
              <a:spcAft>
                <a:spcPts val="780"/>
              </a:spcAft>
              <a:defRPr sz="1500" b="0">
                <a:solidFill>
                  <a:srgbClr val="AAAAAA"/>
                </a:solidFill>
                <a:latin typeface="微软雅黑"/>
              </a:defRPr>
            </a:pPr>
            <a:r>
              <a:t>→ 已做 fallback，两级均可读取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五、人员分工与进度安排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人员分工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828800" cy="457200"/>
          </a:xfrm>
          <a:prstGeom prst="round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642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姓名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645920"/>
            <a:ext cx="8686800" cy="457200"/>
          </a:xfrm>
          <a:prstGeom prst="round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6642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分工内容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03120"/>
            <a:ext cx="1828800" cy="9144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488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Keplerqaq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103120"/>
            <a:ext cx="8686800" cy="91440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214884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总体设计 + 题目一（队列/栈/博弈逻辑）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4231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+ 题目二（排序算法/索引数组/数据分析）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69748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微软雅黑"/>
              </a:defRPr>
            </a:pPr>
            <a:r>
              <a:t>+ 测试 + 实验报告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进度安排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54F"/>
                </a:solidFill>
                <a:latin typeface="微软雅黑"/>
              </a:defRPr>
            </a:pPr>
            <a:r>
              <a:t>5/14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确定思路、完成答辩 PPT</a:t>
            </a:r>
          </a:p>
        </p:txBody>
      </p:sp>
      <p:sp>
        <p:nvSpPr>
          <p:cNvPr id="18" name="Oval 17"/>
          <p:cNvSpPr/>
          <p:nvPr/>
        </p:nvSpPr>
        <p:spPr>
          <a:xfrm>
            <a:off x="2103120" y="4178808"/>
            <a:ext cx="177800" cy="177800"/>
          </a:xfrm>
          <a:prstGeom prst="ellipse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A6A"/>
                </a:solidFill>
                <a:latin typeface="微软雅黑"/>
              </a:defRPr>
            </a:pPr>
            <a:r>
              <a:t>5/19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617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开题答辩</a:t>
            </a:r>
          </a:p>
        </p:txBody>
      </p:sp>
      <p:sp>
        <p:nvSpPr>
          <p:cNvPr id="21" name="Oval 20"/>
          <p:cNvSpPr/>
          <p:nvPr/>
        </p:nvSpPr>
        <p:spPr>
          <a:xfrm>
            <a:off x="2103120" y="4681728"/>
            <a:ext cx="177800" cy="177800"/>
          </a:xfrm>
          <a:prstGeom prst="ellipse">
            <a:avLst/>
          </a:prstGeom>
          <a:solidFill>
            <a:srgbClr val="E8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4B5F6"/>
                </a:solidFill>
                <a:latin typeface="微软雅黑"/>
              </a:defRPr>
            </a:pPr>
            <a:r>
              <a:t>5/21 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51206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算法设计 → 程序实现</a:t>
            </a:r>
          </a:p>
        </p:txBody>
      </p:sp>
      <p:sp>
        <p:nvSpPr>
          <p:cNvPr id="24" name="Oval 23"/>
          <p:cNvSpPr/>
          <p:nvPr/>
        </p:nvSpPr>
        <p:spPr>
          <a:xfrm>
            <a:off x="2103120" y="5184648"/>
            <a:ext cx="177800" cy="177800"/>
          </a:xfrm>
          <a:prstGeom prst="ellipse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623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1C784"/>
                </a:solidFill>
                <a:latin typeface="微软雅黑"/>
              </a:defRPr>
            </a:pPr>
            <a:r>
              <a:t>6/9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56235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程序演示与答辩</a:t>
            </a:r>
          </a:p>
        </p:txBody>
      </p:sp>
      <p:sp>
        <p:nvSpPr>
          <p:cNvPr id="27" name="Oval 26"/>
          <p:cNvSpPr/>
          <p:nvPr/>
        </p:nvSpPr>
        <p:spPr>
          <a:xfrm>
            <a:off x="2103120" y="5687568"/>
            <a:ext cx="177800" cy="177800"/>
          </a:xfrm>
          <a:prstGeom prst="ellipse">
            <a:avLst/>
          </a:prstGeom>
          <a:solidFill>
            <a:srgbClr val="81C7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61264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AAAAA"/>
                </a:solidFill>
                <a:latin typeface="微软雅黑"/>
              </a:defRPr>
            </a:pPr>
            <a:r>
              <a:t>6/11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61264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报告撰写</a:t>
            </a:r>
          </a:p>
        </p:txBody>
      </p:sp>
      <p:sp>
        <p:nvSpPr>
          <p:cNvPr id="30" name="Oval 29"/>
          <p:cNvSpPr/>
          <p:nvPr/>
        </p:nvSpPr>
        <p:spPr>
          <a:xfrm>
            <a:off x="2103120" y="6190488"/>
            <a:ext cx="177800" cy="177800"/>
          </a:xfrm>
          <a:prstGeom prst="ellipse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/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六、预期结果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10972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🎮 小猫钓鱼游戏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2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终端交互程序，支持随机洗牌发牌、二人交替出牌、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自动判定收牌和胜负、回合上限保护。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651760"/>
            <a:ext cx="10332720" cy="10972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📊 制造业统计分析系统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菜单驱动的终端程序，完整实现七项功能：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导入 → 查询 → 增速计算 → 两种排名 → 分析 → 保存。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931920"/>
            <a:ext cx="10332720" cy="10972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023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📄 输出文件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348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• 制造业分析_inputdate_Sorted.txt（逐年全量增加值排名）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• 制造业分析_inputdate_Grouped_Sorted.txt（逐年分组增速排名）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10332720" cy="1097280"/>
          </a:xfrm>
          <a:prstGeom prst="roundRect">
            <a:avLst/>
          </a:prstGeom>
          <a:solidFill>
            <a:srgbClr val="2A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03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4B5F6"/>
                </a:solidFill>
                <a:latin typeface="微软雅黑"/>
              </a:defRPr>
            </a:pPr>
            <a:r>
              <a:t>📝 实验报告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71500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含需求分析、概要设计、详细设计、</a:t>
            </a:r>
          </a:p>
          <a:p>
            <a:pPr algn="l">
              <a:spcAft>
                <a:spcPts val="780"/>
              </a:spcAft>
              <a:defRPr sz="1600" b="0">
                <a:solidFill>
                  <a:srgbClr val="AAAAAA"/>
                </a:solidFill>
                <a:latin typeface="微软雅黑"/>
              </a:defRPr>
            </a:pPr>
            <a:r>
              <a:t>测试用例与分析、源代码、运行截图、心得总结。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2560320"/>
            <a:ext cx="8534095" cy="38100"/>
          </a:xfrm>
          <a:prstGeom prst="rect">
            <a:avLst/>
          </a:prstGeom>
          <a:solidFill>
            <a:srgbClr val="64B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微软雅黑"/>
              </a:defRPr>
            </a:pPr>
            <a:r>
              <a:t>致 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80"/>
            <a:ext cx="85340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80"/>
              </a:spcAft>
              <a:defRPr sz="2600" b="0">
                <a:solidFill>
                  <a:srgbClr val="AAAAAA"/>
                </a:solidFill>
                <a:latin typeface="微软雅黑"/>
              </a:defRPr>
            </a:pPr>
            <a:r>
              <a:t>感谢周文峰老师的指导</a:t>
            </a:r>
          </a:p>
          <a:p>
            <a:pPr algn="ctr">
              <a:spcAft>
                <a:spcPts val="780"/>
              </a:spcAft>
              <a:defRPr sz="1000" b="0">
                <a:solidFill>
                  <a:srgbClr val="AAAAAA"/>
                </a:solidFill>
                <a:latin typeface="微软雅黑"/>
              </a:defRPr>
            </a:pPr>
          </a:p>
          <a:p>
            <a:pPr algn="ctr">
              <a:spcAft>
                <a:spcPts val="780"/>
              </a:spcAft>
              <a:defRPr sz="2200" b="0">
                <a:solidFill>
                  <a:srgbClr val="AAAAAA"/>
                </a:solidFill>
                <a:latin typeface="微软雅黑"/>
              </a:defRPr>
            </a:pPr>
            <a:r>
              <a:t>恳请各位老师批评指正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5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AAAAAA"/>
                </a:solidFill>
              </a:defRPr>
            </a:pPr>
            <a:r>
              <a:t>数据结构课程设计 · 第3组 · 开题答辩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